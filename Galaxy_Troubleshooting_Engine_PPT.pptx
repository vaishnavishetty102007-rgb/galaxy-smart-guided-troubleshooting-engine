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Heebo Light"/>
      <p:regular r:id="rId201314"/>
    </p:embeddedFont>
    <p:embeddedFont>
      <p:font typeface="Heebo"/>
      <p:regular r:id="rId201315"/>
    </p:embeddedFont>
    <p:embeddedFont>
      <p:font typeface="Heebo Medium"/>
      <p:regular r:id="rId201316"/>
    </p:embeddedFont>
    <p:embeddedFont>
      <p:font typeface="Heebo SemiBold"/>
      <p:regular r:id="rId201317"/>
    </p:embeddedFont>
    <p:embeddedFont>
      <p:font typeface="Heebo Bold"/>
      <p:regular r:id="rId201318"/>
    </p:embeddedFont>
    <p:embeddedFont>
      <p:font typeface="Montserrat SemiBold"/>
      <p:regular r:id="rId201319"/>
    </p:embeddedFont>
    <p:embeddedFont>
      <p:font typeface="Montserrat Bold"/>
      <p:regular r:id="rId201320"/>
    </p:embeddedFont>
    <p:embeddedFont>
      <p:font typeface="Montserrat Medium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Galaxy Smart Troubleshooting Engine turns an uncertain support moment into a direct path to the right screen. It understands the complaint, grounds the answer, validates every action, and keeps a human fallback when certainty runs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support problem begins before the settings menu. People explain symptoms with incomplete context, mixed languages, screenshots, and everyday phrasing. A useful engine must translate that mess into a safe next action without pretending to know more than it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product promise is not simply an AI answer. It is a validated path: understand the person, ground the reasoning, match actions to an approved catalog, and resolve with a direct settings link or a clear escalation.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architecture separates the customer experience from the reasoning engine and the control plane. Gemini is server-side only. One UI reference text provides grounding, while the closed catalog controls every allowed settings deeplink.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request has a predictable route. The fast path reuses a validated answer when the complaint is semantically similar. The cold path understands, extracts, retrieves, and validates before anything reaches the customer.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experience meets people where they are. They can speak, switch languages, show a screenshot, or describe the symptom in their own phrasing. The engine keeps the interaction direct, while safety controls the order and level of every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stack is intentionally familiar. A mobile-first React experience sits on Express services, with Gemini behind the server boundary. BM25 provides inspectable retrieval across a fixed catalog, and REST endpoints expose the parts engineers and judges need to evaluate.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Safety is not a disclaimer added after generation. It is enforced before the model call, during retrieval and validation, and after confidence scoring. Risky actions stay last, critical actions require confirmation, and uncertainty becomes a human escalation note.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prototype already demonstrates the core experience and the inspectability judges need. The next step is not a new idea; it is platform hardening: multilingual embeddings, persisted operations data, physical-device deeplink verification, localized steps, and ticketing integration.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experience, not the implementation. The engine understands the person, uses AI where it helps and rules where certainty matters, then gives every fix a clear path, a confidence signal, and a human fallback.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A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A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1.png"/><Relationship Id="rId4" Type="http://schemas.openxmlformats.org/officeDocument/2006/relationships/image" Target="../media/image-4-1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jpe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1.jpeg"/><Relationship Id="rId4" Type="http://schemas.openxmlformats.org/officeDocument/2006/relationships/image" Target="../media/image-8-4.png"/><Relationship Id="rId5" Type="http://schemas.openxmlformats.org/officeDocument/2006/relationships/image" Target="../media/image-8-1.jpeg"/><Relationship Id="rId6" Type="http://schemas.openxmlformats.org/officeDocument/2006/relationships/image" Target="../media/image-8-6.png"/><Relationship Id="rId7" Type="http://schemas.openxmlformats.org/officeDocument/2006/relationships/image" Target="../media/image-8-1.jpe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1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7064" y="445988"/>
            <a:ext cx="7765856" cy="2340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400" spc="-224" kern="0" dirty="0">
                <a:solidFill>
                  <a:srgbClr val="07293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Galaxy Smart</a:t>
            </a:r>
            <a:endParaRPr lang="en-US" sz="6400" dirty="0"/>
          </a:p>
          <a:p>
            <a:pPr algn="l" indent="0" marL="0">
              <a:lnSpc>
                <a:spcPct val="80000"/>
              </a:lnSpc>
              <a:buNone/>
            </a:pPr>
            <a:r>
              <a:rPr lang="en-US" sz="6400" spc="-224" kern="0" dirty="0">
                <a:solidFill>
                  <a:srgbClr val="07293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Troubleshooting Engine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207064" y="2977257"/>
            <a:ext cx="7765856" cy="345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000" b="1" spc="-50" kern="0" dirty="0">
                <a:solidFill>
                  <a:srgbClr val="2444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Understand. Match. Validate. Resolve.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07064" y="3475038"/>
            <a:ext cx="7765856" cy="794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1450"/>
              </a:spcAft>
              <a:buNone/>
            </a:pPr>
            <a:r>
              <a:rPr lang="en-US" sz="170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 hackathon-ready AI support experience for</a:t>
            </a:r>
            <a:endParaRPr lang="en-US" sz="17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Galaxy phone owners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07064" y="4498578"/>
            <a:ext cx="7765856" cy="4374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b="1" spc="17" kern="0" dirty="0">
                <a:solidFill>
                  <a:srgbClr val="385F6C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Team: Byte4ce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35991" cy="6858000"/>
          </a:xfrm>
          <a:prstGeom prst="rect">
            <a:avLst/>
          </a:prstGeom>
          <a:solidFill>
            <a:srgbClr val="E3F3F5"/>
          </a:solidFill>
          <a:ln/>
        </p:spPr>
      </p:sp>
      <p:sp>
        <p:nvSpPr>
          <p:cNvPr id="3" name="Text 1"/>
          <p:cNvSpPr/>
          <p:nvPr/>
        </p:nvSpPr>
        <p:spPr>
          <a:xfrm>
            <a:off x="431789" y="381000"/>
            <a:ext cx="6304202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0" dirty="0">
                <a:solidFill>
                  <a:srgbClr val="24444F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31789" y="649585"/>
            <a:ext cx="5872412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0" dirty="0">
                <a:solidFill>
                  <a:srgbClr val="24444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Phone support starts with messy human language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31789" y="1904603"/>
            <a:ext cx="1937793" cy="31651"/>
          </a:xfrm>
          <a:prstGeom prst="roundRect">
            <a:avLst>
              <a:gd name="adj" fmla="val 49998"/>
            </a:avLst>
          </a:prstGeom>
          <a:solidFill>
            <a:srgbClr val="BFD9DE"/>
          </a:solidFill>
          <a:ln/>
        </p:spPr>
      </p:sp>
      <p:sp>
        <p:nvSpPr>
          <p:cNvPr id="6" name="Text 4"/>
          <p:cNvSpPr/>
          <p:nvPr/>
        </p:nvSpPr>
        <p:spPr>
          <a:xfrm>
            <a:off x="755631" y="2330152"/>
            <a:ext cx="5548571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“My phone keeps doing that thing where it stops connecting after I leave home.”</a:t>
            </a:r>
            <a:endParaRPr lang="en-US" sz="17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789" y="2253952"/>
            <a:ext cx="28574" cy="75684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31789" y="3201293"/>
            <a:ext cx="5872412" cy="16698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1450"/>
              </a:spcAft>
              <a:buNone/>
            </a:pPr>
            <a:r>
              <a:rPr lang="en-US" sz="145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Owners describe symptoms in their own words, language, and level of detail.</a:t>
            </a:r>
            <a:endParaRPr lang="en-US" sz="1450" dirty="0"/>
          </a:p>
          <a:p>
            <a:pPr algn="l" indent="0" marL="0">
              <a:lnSpc>
                <a:spcPct val="117000"/>
              </a:lnSpc>
              <a:spcAft>
                <a:spcPts val="1450"/>
              </a:spcAft>
              <a:buNone/>
            </a:pPr>
            <a:r>
              <a:rPr lang="en-US" sz="1450" b="1" dirty="0">
                <a:solidFill>
                  <a:srgbClr val="24444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Traditional support:</a:t>
            </a:r>
            <a:pPr algn="l" indent="0" marL="0">
              <a:lnSpc>
                <a:spcPct val="117000"/>
              </a:lnSpc>
              <a:spcAft>
                <a:spcPts val="1450"/>
              </a:spcAft>
              <a:buNone/>
            </a:pPr>
            <a:r>
              <a:rPr lang="en-US" sz="145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generic, link-heavy, and built around product menus.</a:t>
            </a:r>
            <a:endParaRPr lang="en-US" sz="14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50" b="1" dirty="0">
                <a:solidFill>
                  <a:srgbClr val="24444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Risk:</a:t>
            </a:r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unvalidated AI can invent settings paths, expose web links, or suggest risky steps too early.</a:t>
            </a:r>
            <a:endParaRPr lang="en-US" sz="14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684" y="0"/>
            <a:ext cx="515101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0" dirty="0">
                <a:solidFill>
                  <a:srgbClr val="385F6C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78185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0" dirty="0">
                <a:solidFill>
                  <a:srgbClr val="07293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Our solution: a validated path from complaint to fix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5" y="1526381"/>
            <a:ext cx="10972526" cy="345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000" spc="-50" kern="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Every answer moves through the same controlled journey.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09585" y="2151063"/>
            <a:ext cx="3620798" cy="31651"/>
          </a:xfrm>
          <a:prstGeom prst="roundRect">
            <a:avLst>
              <a:gd name="adj" fmla="val 49998"/>
            </a:avLst>
          </a:prstGeom>
          <a:solidFill>
            <a:srgbClr val="BFD9DE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2500412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176FC1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09585" y="2803227"/>
            <a:ext cx="1950592" cy="19050"/>
          </a:xfrm>
          <a:prstGeom prst="rect">
            <a:avLst/>
          </a:prstGeom>
          <a:solidFill>
            <a:srgbClr val="0A8199"/>
          </a:solidFill>
          <a:ln/>
        </p:spPr>
      </p:sp>
      <p:sp>
        <p:nvSpPr>
          <p:cNvPr id="8" name="Text 6"/>
          <p:cNvSpPr/>
          <p:nvPr/>
        </p:nvSpPr>
        <p:spPr>
          <a:xfrm>
            <a:off x="609585" y="2952353"/>
            <a:ext cx="1950691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Understand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09585" y="3432870"/>
            <a:ext cx="1950691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Accept text, voice, screenshots, and multilingual complaints.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2864969" y="2500412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176FC1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2864969" y="2803227"/>
            <a:ext cx="1950592" cy="19050"/>
          </a:xfrm>
          <a:prstGeom prst="rect">
            <a:avLst/>
          </a:prstGeom>
          <a:solidFill>
            <a:srgbClr val="0A8199"/>
          </a:solidFill>
          <a:ln/>
        </p:spPr>
      </p:sp>
      <p:sp>
        <p:nvSpPr>
          <p:cNvPr id="12" name="Text 10"/>
          <p:cNvSpPr/>
          <p:nvPr/>
        </p:nvSpPr>
        <p:spPr>
          <a:xfrm>
            <a:off x="2864969" y="2952353"/>
            <a:ext cx="1950691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Match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2864969" y="3432870"/>
            <a:ext cx="1950691" cy="1031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Restate the issue, identify its domain, and ask when input is too vague.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120353" y="2500412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176FC1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120353" y="2803227"/>
            <a:ext cx="1950889" cy="19050"/>
          </a:xfrm>
          <a:prstGeom prst="rect">
            <a:avLst/>
          </a:prstGeom>
          <a:solidFill>
            <a:srgbClr val="0A8199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353" y="2952353"/>
            <a:ext cx="1950889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Ground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5120353" y="3432870"/>
            <a:ext cx="1950889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Build a troubleshooting plan from One UI reference knowledge.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375936" y="2500412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176FC1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04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375936" y="2803227"/>
            <a:ext cx="1950592" cy="19050"/>
          </a:xfrm>
          <a:prstGeom prst="rect">
            <a:avLst/>
          </a:prstGeom>
          <a:solidFill>
            <a:srgbClr val="0A8199"/>
          </a:solidFill>
          <a:ln/>
        </p:spPr>
      </p:sp>
      <p:sp>
        <p:nvSpPr>
          <p:cNvPr id="20" name="Text 18"/>
          <p:cNvSpPr/>
          <p:nvPr/>
        </p:nvSpPr>
        <p:spPr>
          <a:xfrm>
            <a:off x="7375936" y="2952353"/>
            <a:ext cx="1950691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Validate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7375936" y="3432870"/>
            <a:ext cx="1950691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Map safe actions to approved settings screens.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631320" y="2500412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176FC1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05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9631320" y="2803227"/>
            <a:ext cx="1950691" cy="19050"/>
          </a:xfrm>
          <a:prstGeom prst="rect">
            <a:avLst/>
          </a:prstGeom>
          <a:solidFill>
            <a:srgbClr val="0A8199"/>
          </a:solidFill>
          <a:ln/>
        </p:spPr>
      </p:sp>
      <p:sp>
        <p:nvSpPr>
          <p:cNvPr id="24" name="Text 22"/>
          <p:cNvSpPr/>
          <p:nvPr/>
        </p:nvSpPr>
        <p:spPr>
          <a:xfrm>
            <a:off x="9631320" y="2952353"/>
            <a:ext cx="1950790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Resolve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9631320" y="3432870"/>
            <a:ext cx="1950790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Deliver one-tap links—or escalate instead of guessing.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1184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400" spc="-110" kern="0" dirty="0">
                <a:solidFill>
                  <a:srgbClr val="07293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Architecture keeps the AI inside guardrails</a:t>
            </a:r>
            <a:endParaRPr lang="en-US" sz="4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006798"/>
            <a:ext cx="5410065" cy="13008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3578" y="2159198"/>
            <a:ext cx="4902077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Customer experience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863578" y="2639715"/>
            <a:ext cx="4902077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React + TypeScript · text · voice · screenshot · language · device context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046" y="2006798"/>
            <a:ext cx="5410065" cy="130085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26039" y="2159198"/>
            <a:ext cx="4902077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Express API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6426039" y="2639715"/>
            <a:ext cx="4902077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Understanding · cache · extraction · retrieval · validation · feedback loop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3459956"/>
            <a:ext cx="5410065" cy="130085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63578" y="3612356"/>
            <a:ext cx="4902077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Server-side AI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863578" y="4092873"/>
            <a:ext cx="5156071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Gemini grounded by One UI reference text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046" y="3459956"/>
            <a:ext cx="5410065" cy="130085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426039" y="3612356"/>
            <a:ext cx="4902077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Control plane</a:t>
            </a:r>
            <a:endParaRPr lang="en-US" sz="1900" dirty="0"/>
          </a:p>
        </p:txBody>
      </p:sp>
      <p:sp>
        <p:nvSpPr>
          <p:cNvPr id="14" name="Text 8"/>
          <p:cNvSpPr/>
          <p:nvPr/>
        </p:nvSpPr>
        <p:spPr>
          <a:xfrm>
            <a:off x="6426039" y="4092873"/>
            <a:ext cx="4902077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Closed catalog of 36 entries · settings · cache · developer console</a:t>
            </a:r>
            <a:endParaRPr lang="en-US" sz="1450" dirty="0"/>
          </a:p>
        </p:txBody>
      </p:sp>
      <p:sp>
        <p:nvSpPr>
          <p:cNvPr id="15" name="Shape 9"/>
          <p:cNvSpPr/>
          <p:nvPr/>
        </p:nvSpPr>
        <p:spPr>
          <a:xfrm>
            <a:off x="609585" y="4913114"/>
            <a:ext cx="10972526" cy="1043087"/>
          </a:xfrm>
          <a:prstGeom prst="rect">
            <a:avLst/>
          </a:prstGeom>
          <a:solidFill>
            <a:srgbClr val="E3F3F5"/>
          </a:solidFill>
          <a:ln/>
        </p:spPr>
      </p:sp>
      <p:sp>
        <p:nvSpPr>
          <p:cNvPr id="16" name="Text 10"/>
          <p:cNvSpPr/>
          <p:nvPr/>
        </p:nvSpPr>
        <p:spPr>
          <a:xfrm>
            <a:off x="863578" y="5065514"/>
            <a:ext cx="10464538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Validated response</a:t>
            </a:r>
            <a:endParaRPr lang="en-US" sz="1900" dirty="0"/>
          </a:p>
        </p:txBody>
      </p:sp>
      <p:sp>
        <p:nvSpPr>
          <p:cNvPr id="17" name="Text 11"/>
          <p:cNvSpPr/>
          <p:nvPr/>
        </p:nvSpPr>
        <p:spPr>
          <a:xfrm>
            <a:off x="863578" y="5546030"/>
            <a:ext cx="10718532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Risk-labeled steps · approved deeplinks · confidence · escalation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0" dirty="0">
                <a:solidFill>
                  <a:srgbClr val="385F6C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THE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78185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0" dirty="0">
                <a:solidFill>
                  <a:srgbClr val="07293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Every request follows the same five-stage path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1675507"/>
            <a:ext cx="3620798" cy="31651"/>
          </a:xfrm>
          <a:prstGeom prst="roundRect">
            <a:avLst>
              <a:gd name="adj" fmla="val 49998"/>
            </a:avLst>
          </a:prstGeom>
          <a:solidFill>
            <a:srgbClr val="BFD9DE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2024856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176FC1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09585" y="2327672"/>
            <a:ext cx="1950592" cy="19050"/>
          </a:xfrm>
          <a:prstGeom prst="rect">
            <a:avLst/>
          </a:prstGeom>
          <a:solidFill>
            <a:srgbClr val="0A8199"/>
          </a:solidFill>
          <a:ln/>
        </p:spPr>
      </p:sp>
      <p:sp>
        <p:nvSpPr>
          <p:cNvPr id="7" name="Text 5"/>
          <p:cNvSpPr/>
          <p:nvPr/>
        </p:nvSpPr>
        <p:spPr>
          <a:xfrm>
            <a:off x="609585" y="2476798"/>
            <a:ext cx="1950691" cy="656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Input → Understand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09585" y="3285430"/>
            <a:ext cx="1950691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Detect language, domain, intent, and injection attempts.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2864969" y="2024856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176FC1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2864969" y="2327672"/>
            <a:ext cx="1950592" cy="19050"/>
          </a:xfrm>
          <a:prstGeom prst="rect">
            <a:avLst/>
          </a:prstGeom>
          <a:solidFill>
            <a:srgbClr val="0A8199"/>
          </a:solidFill>
          <a:ln/>
        </p:spPr>
      </p:sp>
      <p:sp>
        <p:nvSpPr>
          <p:cNvPr id="11" name="Text 9"/>
          <p:cNvSpPr/>
          <p:nvPr/>
        </p:nvSpPr>
        <p:spPr>
          <a:xfrm>
            <a:off x="2864969" y="2476798"/>
            <a:ext cx="1950691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AI → Extract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864969" y="2957314"/>
            <a:ext cx="1950691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Use grounded Gemini reasoning, or a rule-based fallback.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120353" y="2024856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176FC1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120353" y="2327672"/>
            <a:ext cx="1950889" cy="19050"/>
          </a:xfrm>
          <a:prstGeom prst="rect">
            <a:avLst/>
          </a:prstGeom>
          <a:solidFill>
            <a:srgbClr val="0A8199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353" y="2476798"/>
            <a:ext cx="1950889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Cache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5120353" y="2957314"/>
            <a:ext cx="1950889" cy="1031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Reuse a validated answer for a semantically similar complaint.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375936" y="2024856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176FC1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04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375936" y="2327672"/>
            <a:ext cx="1950592" cy="19050"/>
          </a:xfrm>
          <a:prstGeom prst="rect">
            <a:avLst/>
          </a:prstGeom>
          <a:solidFill>
            <a:srgbClr val="0A8199"/>
          </a:solidFill>
          <a:ln/>
        </p:spPr>
      </p:sp>
      <p:sp>
        <p:nvSpPr>
          <p:cNvPr id="19" name="Text 17"/>
          <p:cNvSpPr/>
          <p:nvPr/>
        </p:nvSpPr>
        <p:spPr>
          <a:xfrm>
            <a:off x="7375936" y="2476798"/>
            <a:ext cx="1950691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Validation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7375936" y="2957314"/>
            <a:ext cx="1950691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Match actions with BM25 against approved catalog entries.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9631320" y="2024856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176FC1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05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9631320" y="2327672"/>
            <a:ext cx="1950691" cy="19050"/>
          </a:xfrm>
          <a:prstGeom prst="rect">
            <a:avLst/>
          </a:prstGeom>
          <a:solidFill>
            <a:srgbClr val="0A8199"/>
          </a:solidFill>
          <a:ln/>
        </p:spPr>
      </p:sp>
      <p:sp>
        <p:nvSpPr>
          <p:cNvPr id="23" name="Text 21"/>
          <p:cNvSpPr/>
          <p:nvPr/>
        </p:nvSpPr>
        <p:spPr>
          <a:xfrm>
            <a:off x="9631320" y="2476798"/>
            <a:ext cx="1950790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Final solution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9631320" y="2957314"/>
            <a:ext cx="1950790" cy="12888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Deliver risk-labeled steps, deeplinks, confidence, and escalation when needed.</a:t>
            </a:r>
            <a:endParaRPr lang="en-US" sz="145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5614789"/>
            <a:ext cx="4267093" cy="633611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812780" y="5741789"/>
            <a:ext cx="3860703" cy="379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b="1" spc="17" kern="0" dirty="0">
                <a:solidFill>
                  <a:srgbClr val="385F6C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Fast path</a:t>
            </a:r>
            <a:pPr algn="l" indent="0" marL="0">
              <a:lnSpc>
                <a:spcPct val="108000"/>
              </a:lnSpc>
              <a:buNone/>
            </a:pPr>
            <a:r>
              <a:rPr lang="en-US" sz="1150" spc="17" kern="0" dirty="0">
                <a:solidFill>
                  <a:srgbClr val="385F6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· semantically similar complaint → validated cache answer</a:t>
            </a:r>
            <a:endParaRPr lang="en-US" sz="1150" dirty="0"/>
          </a:p>
        </p:txBody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8975" y="5614789"/>
            <a:ext cx="4267192" cy="633611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232170" y="5741789"/>
            <a:ext cx="3860803" cy="379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b="1" spc="17" kern="0" dirty="0">
                <a:solidFill>
                  <a:srgbClr val="385F6C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Cold path</a:t>
            </a:r>
            <a:pPr algn="l" indent="0" marL="0">
              <a:lnSpc>
                <a:spcPct val="108000"/>
              </a:lnSpc>
              <a:buNone/>
            </a:pPr>
            <a:r>
              <a:rPr lang="en-US" sz="1150" spc="17" kern="0" dirty="0">
                <a:solidFill>
                  <a:srgbClr val="385F6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· new complaint → AI or rules → retrieval → validation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9448464" y="5614789"/>
            <a:ext cx="2133646" cy="633611"/>
          </a:xfrm>
          <a:prstGeom prst="rect">
            <a:avLst/>
          </a:prstGeom>
          <a:solidFill>
            <a:srgbClr val="176FC1"/>
          </a:solidFill>
          <a:ln/>
        </p:spPr>
      </p:sp>
      <p:sp>
        <p:nvSpPr>
          <p:cNvPr id="30" name="Text 26"/>
          <p:cNvSpPr/>
          <p:nvPr/>
        </p:nvSpPr>
        <p:spPr>
          <a:xfrm>
            <a:off x="9651659" y="5741789"/>
            <a:ext cx="1930451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7" kern="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One validated output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6309262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0" dirty="0">
                <a:solidFill>
                  <a:srgbClr val="07293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Designed around how people actually ask for help</a:t>
            </a:r>
            <a:endParaRPr lang="en-US" sz="3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649710"/>
            <a:ext cx="431789" cy="431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57269" y="1737717"/>
            <a:ext cx="2430699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Multilingual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1257269" y="2218234"/>
            <a:ext cx="2430699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English, Hindi, Kannada, Tamil, and Hinglish understanding.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364" y="1649710"/>
            <a:ext cx="431789" cy="431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88048" y="1737717"/>
            <a:ext cx="2430799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Voice input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4488048" y="2218234"/>
            <a:ext cx="2430799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Browser speech recognition for hands-free complaints.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3055838"/>
            <a:ext cx="431789" cy="4318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57269" y="3143845"/>
            <a:ext cx="2430699" cy="656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Screenshot diagnosis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1257269" y="3952478"/>
            <a:ext cx="2430699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Show an error dialog or symptom instead of naming it.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364" y="3055838"/>
            <a:ext cx="431789" cy="4318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488048" y="3143845"/>
            <a:ext cx="2430799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Semantic cache</a:t>
            </a:r>
            <a:endParaRPr lang="en-US" sz="1900" dirty="0"/>
          </a:p>
        </p:txBody>
      </p:sp>
      <p:sp>
        <p:nvSpPr>
          <p:cNvPr id="14" name="Text 8"/>
          <p:cNvSpPr/>
          <p:nvPr/>
        </p:nvSpPr>
        <p:spPr>
          <a:xfrm>
            <a:off x="4488048" y="3624362"/>
            <a:ext cx="2430799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Reworded complaints can return a fast-path answer.</a:t>
            </a:r>
            <a:endParaRPr lang="en-US" sz="14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85" y="4790083"/>
            <a:ext cx="431789" cy="4318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57269" y="4878090"/>
            <a:ext cx="5661578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One-tap settings + safety</a:t>
            </a:r>
            <a:endParaRPr lang="en-US" sz="1900" dirty="0"/>
          </a:p>
        </p:txBody>
      </p:sp>
      <p:sp>
        <p:nvSpPr>
          <p:cNvPr id="17" name="Text 10"/>
          <p:cNvSpPr/>
          <p:nvPr/>
        </p:nvSpPr>
        <p:spPr>
          <a:xfrm>
            <a:off x="1257269" y="5358606"/>
            <a:ext cx="5661578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Open the exact screen, order risk safely, and confirm critical actions.</a:t>
            </a:r>
            <a:endParaRPr lang="en-US" sz="14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33124" y="0"/>
            <a:ext cx="435857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054497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0" dirty="0">
                <a:solidFill>
                  <a:srgbClr val="385F6C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THE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1323082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0" dirty="0">
                <a:solidFill>
                  <a:srgbClr val="07293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The stack is practical, inspectable, and extensible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2120404"/>
            <a:ext cx="3620798" cy="31651"/>
          </a:xfrm>
          <a:prstGeom prst="roundRect">
            <a:avLst>
              <a:gd name="adj" fmla="val 49998"/>
            </a:avLst>
          </a:prstGeom>
          <a:solidFill>
            <a:srgbClr val="BFD9DE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2469753"/>
            <a:ext cx="5333867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Frontend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09585" y="2950270"/>
            <a:ext cx="5333867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24444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React 19, TypeScript, Vite, Tailwind CSS.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09585" y="3442990"/>
            <a:ext cx="5333867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Server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09585" y="3923506"/>
            <a:ext cx="5333867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24444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Express</a:t>
            </a:r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with a mobile-first customer view and developer console.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09585" y="4718447"/>
            <a:ext cx="5333867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AI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09585" y="5198963"/>
            <a:ext cx="5333867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24444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Google Gemini API</a:t>
            </a:r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through the official SDK, configured server-side.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248244" y="2469753"/>
            <a:ext cx="5333867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Retrieval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248244" y="2950270"/>
            <a:ext cx="5333867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24444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BM25 hybrid matching</a:t>
            </a:r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across a fixed settings catalog.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248244" y="3442990"/>
            <a:ext cx="5333867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Operations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248244" y="3923506"/>
            <a:ext cx="5333867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REST endpoints for troubleshooting, feedback, analytics, cache, catalog, and evaluation.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58571" cy="6858000"/>
          </a:xfrm>
          <a:prstGeom prst="rect">
            <a:avLst/>
          </a:prstGeom>
          <a:solidFill>
            <a:srgbClr val="176FC1"/>
          </a:solidFill>
          <a:ln/>
        </p:spPr>
      </p:sp>
      <p:sp>
        <p:nvSpPr>
          <p:cNvPr id="3" name="Text 1"/>
          <p:cNvSpPr/>
          <p:nvPr/>
        </p:nvSpPr>
        <p:spPr>
          <a:xfrm>
            <a:off x="330192" y="1591370"/>
            <a:ext cx="4028379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0" dirty="0">
                <a:solidFill>
                  <a:srgbClr val="FFFFFF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THE SAFETY MODEL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30192" y="1859955"/>
            <a:ext cx="3698187" cy="1950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000" spc="-14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Safety and reliability are enforced in code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330192" y="4077295"/>
            <a:ext cx="1220360" cy="38100"/>
          </a:xfrm>
          <a:prstGeom prst="roundRect">
            <a:avLst>
              <a:gd name="adj" fmla="val 49999"/>
            </a:avLst>
          </a:prstGeom>
          <a:solidFill>
            <a:srgbClr val="0A8199"/>
          </a:solidFill>
          <a:ln/>
        </p:spPr>
      </p:sp>
      <p:sp>
        <p:nvSpPr>
          <p:cNvPr id="6" name="Text 4"/>
          <p:cNvSpPr/>
          <p:nvPr/>
        </p:nvSpPr>
        <p:spPr>
          <a:xfrm>
            <a:off x="330192" y="4359870"/>
            <a:ext cx="3698187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Guard the input. Ground the answer. Validate the action. Escalate uncertainty.</a:t>
            </a:r>
            <a:endParaRPr lang="en-US" sz="17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264" y="0"/>
            <a:ext cx="3687968" cy="218440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1059" y="127000"/>
            <a:ext cx="431789" cy="431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841059" y="749300"/>
            <a:ext cx="3332377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Guard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4841059" y="1229816"/>
            <a:ext cx="3332377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b="1" dirty="0">
                <a:solidFill>
                  <a:srgbClr val="24444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Prompt injection:</a:t>
            </a:r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override attempts are refused before a model call.</a:t>
            </a:r>
            <a:endParaRPr lang="en-US" sz="14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628" y="0"/>
            <a:ext cx="3688067" cy="2184400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1423" y="127000"/>
            <a:ext cx="431789" cy="4318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681423" y="749300"/>
            <a:ext cx="3332476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Ground</a:t>
            </a:r>
            <a:endParaRPr lang="en-US" sz="1900" dirty="0"/>
          </a:p>
        </p:txBody>
      </p:sp>
      <p:sp>
        <p:nvSpPr>
          <p:cNvPr id="14" name="Text 8"/>
          <p:cNvSpPr/>
          <p:nvPr/>
        </p:nvSpPr>
        <p:spPr>
          <a:xfrm>
            <a:off x="8681423" y="1229816"/>
            <a:ext cx="3332476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b="1" dirty="0">
                <a:solidFill>
                  <a:srgbClr val="24444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Validation:</a:t>
            </a:r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URLs scrubbed; deeplinks must exist in catalog; titles, descriptions, and order repaired.</a:t>
            </a:r>
            <a:endParaRPr lang="en-US" sz="14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264" y="2336701"/>
            <a:ext cx="3687968" cy="2184598"/>
          </a:xfrm>
          <a:prstGeom prst="rect">
            <a:avLst/>
          </a:prstGeom>
        </p:spPr>
      </p:pic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1059" y="2463701"/>
            <a:ext cx="431789" cy="4318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4841059" y="3086001"/>
            <a:ext cx="3332377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Validate</a:t>
            </a:r>
            <a:endParaRPr lang="en-US" sz="1900" dirty="0"/>
          </a:p>
        </p:txBody>
      </p:sp>
      <p:sp>
        <p:nvSpPr>
          <p:cNvPr id="18" name="Text 10"/>
          <p:cNvSpPr/>
          <p:nvPr/>
        </p:nvSpPr>
        <p:spPr>
          <a:xfrm>
            <a:off x="4841059" y="3566517"/>
            <a:ext cx="3332377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b="1" dirty="0">
                <a:solidFill>
                  <a:srgbClr val="24444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Offline fallback:</a:t>
            </a:r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rule-based understanding and extraction keep plans flowing when Gemini is unavailable.</a:t>
            </a:r>
            <a:endParaRPr lang="en-US" sz="145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3628" y="2336701"/>
            <a:ext cx="3688067" cy="2184598"/>
          </a:xfrm>
          <a:prstGeom prst="rect">
            <a:avLst/>
          </a:prstGeom>
        </p:spPr>
      </p:pic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1423" y="2463701"/>
            <a:ext cx="431789" cy="43180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8681423" y="3086001"/>
            <a:ext cx="3332476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Escalate</a:t>
            </a:r>
            <a:endParaRPr lang="en-US" sz="1900" dirty="0"/>
          </a:p>
        </p:txBody>
      </p:sp>
      <p:sp>
        <p:nvSpPr>
          <p:cNvPr id="22" name="Text 12"/>
          <p:cNvSpPr/>
          <p:nvPr/>
        </p:nvSpPr>
        <p:spPr>
          <a:xfrm>
            <a:off x="8681423" y="3566517"/>
            <a:ext cx="3332476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b="1" dirty="0">
                <a:solidFill>
                  <a:srgbClr val="24444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Confidence scoring:</a:t>
            </a:r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below 0.65 triggers a human escalation note; confident plans can enter the cache.</a:t>
            </a:r>
            <a:endParaRPr lang="en-US" sz="1450" dirty="0"/>
          </a:p>
        </p:txBody>
      </p:sp>
      <p:sp>
        <p:nvSpPr>
          <p:cNvPr id="23" name="Shape 13"/>
          <p:cNvSpPr/>
          <p:nvPr/>
        </p:nvSpPr>
        <p:spPr>
          <a:xfrm>
            <a:off x="4663264" y="4673600"/>
            <a:ext cx="7528431" cy="2184400"/>
          </a:xfrm>
          <a:prstGeom prst="rect">
            <a:avLst/>
          </a:prstGeom>
          <a:solidFill>
            <a:srgbClr val="E3F3F5"/>
          </a:solidFill>
          <a:ln/>
        </p:spPr>
      </p:sp>
      <p:sp>
        <p:nvSpPr>
          <p:cNvPr id="24" name="Text 14"/>
          <p:cNvSpPr/>
          <p:nvPr/>
        </p:nvSpPr>
        <p:spPr>
          <a:xfrm>
            <a:off x="4841059" y="4775200"/>
            <a:ext cx="7172840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Risk controls</a:t>
            </a:r>
            <a:endParaRPr lang="en-US" sz="1900" dirty="0"/>
          </a:p>
        </p:txBody>
      </p:sp>
      <p:sp>
        <p:nvSpPr>
          <p:cNvPr id="25" name="Text 15"/>
          <p:cNvSpPr/>
          <p:nvPr/>
        </p:nvSpPr>
        <p:spPr>
          <a:xfrm>
            <a:off x="4841059" y="5255716"/>
            <a:ext cx="7172840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Physical hazards stop normal steps. Restart, safe mode, and reset stay last with confirmation.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0" dirty="0">
                <a:solidFill>
                  <a:srgbClr val="385F6C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THE PATH FORWARD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78185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0" dirty="0">
                <a:solidFill>
                  <a:srgbClr val="07293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From hackathon prototype to support platform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1675507"/>
            <a:ext cx="3620798" cy="31651"/>
          </a:xfrm>
          <a:prstGeom prst="roundRect">
            <a:avLst>
              <a:gd name="adj" fmla="val 49998"/>
            </a:avLst>
          </a:prstGeom>
          <a:solidFill>
            <a:srgbClr val="BFD9D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024856"/>
            <a:ext cx="3454314" cy="42235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3578" y="2304256"/>
            <a:ext cx="320032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0" dirty="0">
                <a:solidFill>
                  <a:srgbClr val="385F6C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TODAY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63578" y="2572841"/>
            <a:ext cx="2946326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Prototype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63578" y="3139678"/>
            <a:ext cx="2946326" cy="1670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950"/>
              </a:spcAft>
              <a:buNone/>
            </a:pPr>
            <a:r>
              <a:rPr lang="en-US" sz="145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 clear customer experience plus an inspectable console for judges and engineers.</a:t>
            </a:r>
            <a:endParaRPr lang="en-US" sz="14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50" b="1" dirty="0">
                <a:solidFill>
                  <a:srgbClr val="24444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Closed-catalog grounding</a:t>
            </a:r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prevents invented settings paths and web redirects.</a:t>
            </a:r>
            <a:endParaRPr lang="en-US" sz="14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8691" y="2024856"/>
            <a:ext cx="3454314" cy="42235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22684" y="2304256"/>
            <a:ext cx="320032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0" dirty="0">
                <a:solidFill>
                  <a:srgbClr val="385F6C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ADVANTAGE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622684" y="2572841"/>
            <a:ext cx="2946326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Fast path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4622684" y="3139678"/>
            <a:ext cx="2946326" cy="1412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950"/>
              </a:spcAft>
              <a:buNone/>
            </a:pPr>
            <a:r>
              <a:rPr lang="en-US" sz="145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Semantic fast path improves repeat-query speed and reduces model dependency.</a:t>
            </a:r>
            <a:endParaRPr lang="en-US" sz="14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50" b="1" dirty="0">
                <a:solidFill>
                  <a:srgbClr val="24444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Validated answers</a:t>
            </a:r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can enter the cache.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8127797" y="2024856"/>
            <a:ext cx="3454314" cy="4223544"/>
          </a:xfrm>
          <a:prstGeom prst="rect">
            <a:avLst/>
          </a:prstGeom>
          <a:solidFill>
            <a:srgbClr val="176FC1"/>
          </a:solidFill>
          <a:ln/>
        </p:spPr>
      </p:sp>
      <p:sp>
        <p:nvSpPr>
          <p:cNvPr id="14" name="Text 10"/>
          <p:cNvSpPr/>
          <p:nvPr/>
        </p:nvSpPr>
        <p:spPr>
          <a:xfrm>
            <a:off x="8381790" y="2304256"/>
            <a:ext cx="320032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0" dirty="0">
                <a:solidFill>
                  <a:srgbClr val="FFFFFF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NEXT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8381790" y="2572841"/>
            <a:ext cx="2946326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Platform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8381790" y="3139678"/>
            <a:ext cx="2946326" cy="1670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95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Replace lexical similarity with multilingual embeddings and persist cache and analytics.</a:t>
            </a:r>
            <a:endParaRPr lang="en-US" sz="14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Verify deeplinks</a:t>
            </a:r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on physical Galaxy devices, localize generated steps, and connect escalation to ticketing.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534187" cy="6858000"/>
          </a:xfrm>
          <a:prstGeom prst="rect">
            <a:avLst/>
          </a:prstGeom>
          <a:solidFill>
            <a:srgbClr val="E3F3F5"/>
          </a:solidFill>
          <a:ln/>
        </p:spPr>
      </p:sp>
      <p:sp>
        <p:nvSpPr>
          <p:cNvPr id="3" name="Text 1"/>
          <p:cNvSpPr/>
          <p:nvPr/>
        </p:nvSpPr>
        <p:spPr>
          <a:xfrm>
            <a:off x="558786" y="936129"/>
            <a:ext cx="797540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0" dirty="0">
                <a:solidFill>
                  <a:srgbClr val="24444F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THE TAKEAWAY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58786" y="1204714"/>
            <a:ext cx="7416614" cy="19017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5200" spc="-182" kern="0" dirty="0">
                <a:solidFill>
                  <a:srgbClr val="24444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Make support feel like a direct path to the right screen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558786" y="3446066"/>
            <a:ext cx="2447368" cy="31651"/>
          </a:xfrm>
          <a:prstGeom prst="roundRect">
            <a:avLst>
              <a:gd name="adj" fmla="val 49998"/>
            </a:avLst>
          </a:prstGeom>
          <a:solidFill>
            <a:srgbClr val="BFD9DE"/>
          </a:solidFill>
          <a:ln/>
        </p:spPr>
      </p:sp>
      <p:sp>
        <p:nvSpPr>
          <p:cNvPr id="6" name="Text 4"/>
          <p:cNvSpPr/>
          <p:nvPr/>
        </p:nvSpPr>
        <p:spPr>
          <a:xfrm>
            <a:off x="558786" y="3795415"/>
            <a:ext cx="7416614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Galaxy Smart Troubleshooting Engine turns vague complaints into grounded, validated, safe-to-follow actions.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58786" y="4590355"/>
            <a:ext cx="7416614" cy="1014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Understand the person, not just the product menu.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Use AI where it helps, and rules where safety demands certainty.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Give every fix a clear path, a confidence signal, and a human fallback.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58786" y="5731966"/>
            <a:ext cx="7975400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7" kern="0" dirty="0">
                <a:solidFill>
                  <a:srgbClr val="2444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Thank you — questions welcome.</a:t>
            </a:r>
            <a:endParaRPr lang="en-US" sz="11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34187" y="0"/>
            <a:ext cx="365750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2026-09-30T13:22:51Z</dcterms:created>
  <dcterms:modified xsi:type="dcterms:W3CDTF">2026-09-30T13:22:51Z</dcterms:modified>
</cp:coreProperties>
</file>